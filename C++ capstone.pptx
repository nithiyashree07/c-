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366760" y="914400"/>
            <a:ext cx="2468880" cy="73152"/>
          </a:xfrm>
          <a:prstGeom prst="rect">
            <a:avLst/>
          </a:prstGeom>
          <a:solidFill>
            <a:srgbClr val="2A6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15400" y="1600200"/>
            <a:ext cx="1920240" cy="73152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418320" y="2286000"/>
            <a:ext cx="1417320" cy="73152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366760" y="832104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744200" y="832104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915400" y="1517904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71632" y="1517904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418320" y="2203704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808208" y="2203704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1325880"/>
            <a:ext cx="7406640" cy="1828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Deadline-Aware Logistics</a:t>
            </a:r>
          </a:p>
          <a:p>
            <a:pPr algn="l">
              <a:spcAft>
                <a:spcPts val="5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Scheduling &amp; Delivery</a:t>
            </a:r>
          </a:p>
          <a:p>
            <a:pPr algn="l">
              <a:spcAft>
                <a:spcPts val="5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Performance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401568"/>
            <a:ext cx="685800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CDDCE8"/>
                </a:solidFill>
                <a:latin typeface="Aptos"/>
              </a:defRPr>
            </a:pPr>
            <a:r>
              <a:t>A data-driven C++ system for scheduling shipments, managing delays, and measuring delivery outcomes.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434840"/>
            <a:ext cx="6629400" cy="18288"/>
          </a:xfrm>
          <a:prstGeom prst="rect">
            <a:avLst/>
          </a:prstGeom>
          <a:solidFill>
            <a:srgbClr val="3D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4736592"/>
            <a:ext cx="201168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8B7BE"/>
                </a:solidFill>
                <a:latin typeface="Aptos"/>
              </a:defRPr>
            </a:pPr>
            <a:r>
              <a:rPr sz="1400" dirty="0"/>
              <a:t>COURSE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804672" y="5029200"/>
            <a:ext cx="2057400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DSA0710 Object Oriented Programming for  C++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3063240" y="4736592"/>
            <a:ext cx="210312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8B7BE"/>
                </a:solidFill>
                <a:latin typeface="Aptos"/>
              </a:defRPr>
            </a:pPr>
            <a:r>
              <a:rPr lang="en-IN" sz="1400" dirty="0"/>
              <a:t>PRESENTED</a:t>
            </a:r>
            <a:r>
              <a:rPr lang="en-IN" sz="1100" dirty="0"/>
              <a:t> </a:t>
            </a:r>
            <a:r>
              <a:rPr lang="en-IN" sz="1400" dirty="0"/>
              <a:t>BY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5029200"/>
            <a:ext cx="2331720" cy="100489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KAVIYA V (192421022)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M.NITHIYASHREE (192421101)</a:t>
            </a:r>
          </a:p>
          <a:p>
            <a:pPr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Lakshita S (192524108)</a:t>
            </a:r>
          </a:p>
          <a:p>
            <a:pPr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Nanditha (1965260011)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5623560" y="4736592"/>
            <a:ext cx="192024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8B7BE"/>
                </a:solidFill>
                <a:latin typeface="Aptos"/>
              </a:defRPr>
            </a:pPr>
            <a:r>
              <a:rPr sz="1400" dirty="0"/>
              <a:t>PROJECT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5029200"/>
            <a:ext cx="1828800" cy="7561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Mr. JAGADEESH K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Industrial Professional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Coimbatore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8B7BE"/>
                </a:solidFill>
                <a:latin typeface="Aptos"/>
              </a:defRPr>
            </a:pPr>
            <a: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5304C"/>
                </a:solidFill>
                <a:latin typeface="Aptos"/>
              </a:defRPr>
            </a:pPr>
            <a:r>
              <a:t>Abstract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11018520" cy="13716"/>
          </a:xfrm>
          <a:prstGeom prst="rect">
            <a:avLst/>
          </a:prstGeom>
          <a:solidFill>
            <a:srgbClr val="DA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97989"/>
                </a:solidFill>
                <a:latin typeface="Aptos"/>
              </a:defRPr>
            </a:pPr>
            <a:r>
              <a:t>DEADLINE-AWARE LOGISTICS SCHEDULING  •  C++ / STL / 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2A699F"/>
                </a:solidFill>
                <a:latin typeface="Aptos"/>
              </a:defRPr>
            </a:pPr>
            <a:r>
              <a:t>02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676656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15304C"/>
                </a:solidFill>
                <a:latin typeface="Aptos"/>
              </a:defRPr>
            </a:pPr>
            <a:r>
              <a:t>A unified workflow from shipment registration to measurable delivery performance.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395728"/>
            <a:ext cx="6583680" cy="32004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C3B4B"/>
                </a:solidFill>
                <a:latin typeface="Aptos"/>
              </a:defRPr>
            </a:pPr>
            <a:r>
              <a:t>•  Captures order details, deadlines, priority, vehicle capacity, distance, and driver availability.</a:t>
            </a:r>
          </a:p>
          <a:p>
            <a:pPr>
              <a:spcAft>
                <a:spcPts val="1000"/>
              </a:spcAft>
              <a:defRPr sz="1500">
                <a:solidFill>
                  <a:srgbClr val="2C3B4B"/>
                </a:solidFill>
                <a:latin typeface="Aptos"/>
              </a:defRPr>
            </a:pPr>
            <a:r>
              <a:t>•  Builds delivery sequences using sorting, greedy rules, job sequencing, and priority queues.</a:t>
            </a:r>
          </a:p>
          <a:p>
            <a:pPr>
              <a:spcAft>
                <a:spcPts val="1000"/>
              </a:spcAft>
              <a:defRPr sz="1500">
                <a:solidFill>
                  <a:srgbClr val="2C3B4B"/>
                </a:solidFill>
                <a:latin typeface="Aptos"/>
              </a:defRPr>
            </a:pPr>
            <a:r>
              <a:t>•  Replans pending shipments when delays or urgent orders change the schedule.</a:t>
            </a:r>
          </a:p>
          <a:p>
            <a:pPr>
              <a:spcAft>
                <a:spcPts val="1000"/>
              </a:spcAft>
              <a:defRPr sz="1500">
                <a:solidFill>
                  <a:srgbClr val="2C3B4B"/>
                </a:solidFill>
                <a:latin typeface="Aptos"/>
              </a:defRPr>
            </a:pPr>
            <a:r>
              <a:t>•  Evaluates on-time delivery, lateness, total delivery time, and completed shipments.</a:t>
            </a:r>
          </a:p>
          <a:p>
            <a:pPr>
              <a:spcAft>
                <a:spcPts val="1000"/>
              </a:spcAft>
              <a:defRPr sz="1500">
                <a:solidFill>
                  <a:srgbClr val="2C3B4B"/>
                </a:solidFill>
                <a:latin typeface="Aptos"/>
              </a:defRPr>
            </a:pPr>
            <a:r>
              <a:t>•  Exports results to CSV or stores shipment history in SQLite.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645920"/>
            <a:ext cx="3474720" cy="196596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818120" y="1645920"/>
            <a:ext cx="68580" cy="1965960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19288" y="1792224"/>
            <a:ext cx="309067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PROJECT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2157984"/>
            <a:ext cx="3090672" cy="13624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C3B4B"/>
                </a:solidFill>
                <a:latin typeface="Aptos"/>
              </a:defRPr>
            </a:pPr>
            <a:r>
              <a:t>Deadline-aware scheduling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C3B4B"/>
                </a:solidFill>
                <a:latin typeface="Aptos"/>
              </a:defRPr>
            </a:pPr>
            <a:r>
              <a:t>Dynamic delay management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C3B4B"/>
                </a:solidFill>
                <a:latin typeface="Aptos"/>
              </a:defRPr>
            </a:pPr>
            <a:r>
              <a:t>Algorithm performance comparison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4069080"/>
            <a:ext cx="1097280" cy="310896"/>
          </a:xfrm>
          <a:prstGeom prst="roundRect">
            <a:avLst/>
          </a:prstGeom>
          <a:solidFill>
            <a:srgbClr val="2A6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91855" y="4082796"/>
            <a:ext cx="1024127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C++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4069080"/>
            <a:ext cx="1097280" cy="310896"/>
          </a:xfrm>
          <a:prstGeom prst="round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80576" y="4082796"/>
            <a:ext cx="1024127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STL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32720" y="4069080"/>
            <a:ext cx="914400" cy="310896"/>
          </a:xfrm>
          <a:prstGeom prst="roundRect">
            <a:avLst/>
          </a:prstGeom>
          <a:solidFill>
            <a:srgbClr val="15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369296" y="4082796"/>
            <a:ext cx="841248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709160"/>
            <a:ext cx="315468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697989"/>
                </a:solidFill>
                <a:latin typeface="Aptos"/>
              </a:defRPr>
            </a:pPr>
            <a:r>
              <a:t>Expected contribution</a:t>
            </a:r>
          </a:p>
          <a:p>
            <a:pPr algn="l">
              <a:spcAft>
                <a:spcPts val="500"/>
              </a:spcAft>
              <a:defRPr sz="1300" b="1">
                <a:solidFill>
                  <a:srgbClr val="697989"/>
                </a:solidFill>
                <a:latin typeface="Aptos"/>
              </a:defRPr>
            </a:pPr>
            <a:r>
              <a:t>More transparent and adaptable shipment planning.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8B7BE"/>
                </a:solidFill>
                <a:latin typeface="Aptos"/>
              </a:defRPr>
            </a:pPr>
            <a: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5304C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11018520" cy="13716"/>
          </a:xfrm>
          <a:prstGeom prst="rect">
            <a:avLst/>
          </a:prstGeom>
          <a:solidFill>
            <a:srgbClr val="DA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97989"/>
                </a:solidFill>
                <a:latin typeface="Aptos"/>
              </a:defRPr>
            </a:pPr>
            <a:r>
              <a:t>DEADLINE-AWARE LOGISTICS SCHEDULING  •  C++ / STL / 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2A699F"/>
                </a:solidFill>
                <a:latin typeface="Aptos"/>
              </a:defRPr>
            </a:pPr>
            <a:r>
              <a:t>03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3429000" cy="182880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68580" cy="1828800"/>
          </a:xfrm>
          <a:prstGeom prst="rect">
            <a:avLst/>
          </a:prstGeom>
          <a:solidFill>
            <a:srgbClr val="2A6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655063"/>
            <a:ext cx="304495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01  Fragmented constraints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020824"/>
            <a:ext cx="3044952" cy="122529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Orders differ in deadlines, priority, package weight, route distance, and estimated travel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429000" cy="182880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508760"/>
            <a:ext cx="68580" cy="1828800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655063"/>
            <a:ext cx="304495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02  Changing conditions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020824"/>
            <a:ext cx="3044952" cy="122529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Traffic delays, driver unavailability, and urgent orders can make a fixed schedule ineffective.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508760"/>
            <a:ext cx="3429000" cy="182880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508760"/>
            <a:ext cx="68580" cy="1828800"/>
          </a:xfrm>
          <a:prstGeom prst="rect">
            <a:avLst/>
          </a:prstGeom>
          <a:solidFill>
            <a:srgbClr val="E16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1655063"/>
            <a:ext cx="304495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03  Limited visibility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020824"/>
            <a:ext cx="3044952" cy="122529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Without common metrics, it is difficult to identify late shipments or compare scheduling strategies.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886200"/>
            <a:ext cx="10744200" cy="1234440"/>
          </a:xfrm>
          <a:prstGeom prst="roundRect">
            <a:avLst/>
          </a:prstGeom>
          <a:solidFill>
            <a:srgbClr val="15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4096512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8B7BE"/>
                </a:solidFill>
                <a:latin typeface="Aptos"/>
              </a:defRPr>
            </a:pPr>
            <a:r>
              <a:t>CORE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407408"/>
            <a:ext cx="99669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How can shipments be scheduled and rescheduled to improve deadline adherence while respecting capacity and driver constraints?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532120"/>
            <a:ext cx="1920240" cy="310896"/>
          </a:xfrm>
          <a:prstGeom prst="roundRect">
            <a:avLst/>
          </a:prstGeom>
          <a:solidFill>
            <a:srgbClr val="2A6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9536" y="5545836"/>
            <a:ext cx="1847088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Deadlines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5532120"/>
            <a:ext cx="1920240" cy="310896"/>
          </a:xfrm>
          <a:prstGeom prst="round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62656" y="5545836"/>
            <a:ext cx="1847088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Vehicle capacity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5532120"/>
            <a:ext cx="1920240" cy="310896"/>
          </a:xfrm>
          <a:prstGeom prst="round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65776" y="5545836"/>
            <a:ext cx="1847088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0F1E30"/>
                </a:solidFill>
                <a:latin typeface="Aptos"/>
              </a:defRPr>
            </a:pPr>
            <a:r>
              <a:t>Delay events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0" y="5532120"/>
            <a:ext cx="1920240" cy="310896"/>
          </a:xfrm>
          <a:prstGeom prst="roundRect">
            <a:avLst/>
          </a:prstGeom>
          <a:solidFill>
            <a:srgbClr val="15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68896" y="5545836"/>
            <a:ext cx="1847088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Driver availability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8B7BE"/>
                </a:solidFill>
                <a:latin typeface="Aptos"/>
              </a:defRPr>
            </a:pPr>
            <a: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5304C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11018520" cy="13716"/>
          </a:xfrm>
          <a:prstGeom prst="rect">
            <a:avLst/>
          </a:prstGeom>
          <a:solidFill>
            <a:srgbClr val="DA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97989"/>
                </a:solidFill>
                <a:latin typeface="Aptos"/>
              </a:defRPr>
            </a:pPr>
            <a:r>
              <a:t>DEADLINE-AWARE LOGISTICS SCHEDULING  •  C++ / STL / 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2A699F"/>
                </a:solidFill>
                <a:latin typeface="Aptos"/>
              </a:defRPr>
            </a:pPr>
            <a:r>
              <a:t>04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389888"/>
            <a:ext cx="658368" cy="310896"/>
          </a:xfrm>
          <a:prstGeom prst="round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403604"/>
            <a:ext cx="585216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371600"/>
            <a:ext cx="2788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5304C"/>
                </a:solidFill>
                <a:latin typeface="Aptos"/>
              </a:defRPr>
            </a:pPr>
            <a:r>
              <a:t>Manage shipment 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371600"/>
            <a:ext cx="63550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Register, validate, update, and store shipment information.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304288"/>
            <a:ext cx="658368" cy="310896"/>
          </a:xfrm>
          <a:prstGeom prst="roundRect">
            <a:avLst/>
          </a:prstGeom>
          <a:solidFill>
            <a:srgbClr val="2A6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2318004"/>
            <a:ext cx="585216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286000"/>
            <a:ext cx="2788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5304C"/>
                </a:solidFill>
                <a:latin typeface="Aptos"/>
              </a:defRPr>
            </a:pPr>
            <a:r>
              <a:t>Optimize the sequence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86000"/>
            <a:ext cx="63550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Apply deadline/priority sorting and greedy selection.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218688"/>
            <a:ext cx="658368" cy="310896"/>
          </a:xfrm>
          <a:prstGeom prst="round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" y="3232404"/>
            <a:ext cx="585216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200400"/>
            <a:ext cx="2788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5304C"/>
                </a:solidFill>
                <a:latin typeface="Aptos"/>
              </a:defRPr>
            </a:pPr>
            <a:r>
              <a:t>Adapt to disruptions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200400"/>
            <a:ext cx="63550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Recalculate pending schedules when delays or urgent orders occur.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133087"/>
            <a:ext cx="658368" cy="310896"/>
          </a:xfrm>
          <a:prstGeom prst="roundRect">
            <a:avLst/>
          </a:prstGeom>
          <a:solidFill>
            <a:srgbClr val="2A6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9536" y="4146803"/>
            <a:ext cx="585216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114800"/>
            <a:ext cx="2788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5304C"/>
                </a:solidFill>
                <a:latin typeface="Aptos"/>
              </a:defRPr>
            </a:pPr>
            <a:r>
              <a:t>Measure delivery outcomes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114800"/>
            <a:ext cx="63550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Compute on-time rate, late count, lateness, and total delivery time.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047488"/>
            <a:ext cx="658368" cy="310896"/>
          </a:xfrm>
          <a:prstGeom prst="round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9536" y="5061203"/>
            <a:ext cx="585216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029200"/>
            <a:ext cx="2788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5304C"/>
                </a:solidFill>
                <a:latin typeface="Aptos"/>
              </a:defRPr>
            </a:pPr>
            <a:r>
              <a:t>Compare algorithms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029200"/>
            <a:ext cx="63550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Run strategies on the same test orders and export performance reports.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8B7BE"/>
                </a:solidFill>
                <a:latin typeface="Aptos"/>
              </a:defRPr>
            </a:pPr>
            <a: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5304C"/>
                </a:solidFill>
                <a:latin typeface="Aptos"/>
              </a:defRPr>
            </a:pPr>
            <a:r>
              <a:t>Proposed System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11018520" cy="13716"/>
          </a:xfrm>
          <a:prstGeom prst="rect">
            <a:avLst/>
          </a:prstGeom>
          <a:solidFill>
            <a:srgbClr val="DA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97989"/>
                </a:solidFill>
                <a:latin typeface="Aptos"/>
              </a:defRPr>
            </a:pPr>
            <a:r>
              <a:t>DEADLINE-AWARE LOGISTICS SCHEDULING  •  C++ / STL / 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2A699F"/>
                </a:solidFill>
                <a:latin typeface="Aptos"/>
              </a:defRPr>
            </a:pPr>
            <a:r>
              <a:t>05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1993392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1993392"/>
            <a:ext cx="502920" cy="310896"/>
          </a:xfrm>
          <a:prstGeom prst="roundRect">
            <a:avLst/>
          </a:prstGeom>
          <a:solidFill>
            <a:srgbClr val="2A6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" y="2007108"/>
            <a:ext cx="429768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423160"/>
            <a:ext cx="1691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5304C"/>
                </a:solidFill>
                <a:latin typeface="Aptos"/>
              </a:defRPr>
            </a:pPr>
            <a:r>
              <a:t>Register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816352"/>
            <a:ext cx="16916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2C3B4B"/>
                </a:solidFill>
                <a:latin typeface="Aptos"/>
              </a:defRPr>
            </a:pPr>
            <a:r>
              <a:t>Order details &amp; constraints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14600" y="2542032"/>
            <a:ext cx="292608" cy="0"/>
          </a:xfrm>
          <a:prstGeom prst="line">
            <a:avLst/>
          </a:prstGeom>
          <a:ln w="21590">
            <a:solidFill>
              <a:srgbClr val="697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62072" y="1828800"/>
            <a:ext cx="1993392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017520" y="1993392"/>
            <a:ext cx="502920" cy="310896"/>
          </a:xfrm>
          <a:prstGeom prst="round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54096" y="2007108"/>
            <a:ext cx="429768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423160"/>
            <a:ext cx="1691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5304C"/>
                </a:solidFill>
                <a:latin typeface="Aptos"/>
              </a:defRPr>
            </a:pPr>
            <a:r>
              <a:t>Prioritize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816352"/>
            <a:ext cx="16916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2C3B4B"/>
                </a:solidFill>
                <a:latin typeface="Aptos"/>
              </a:defRPr>
            </a:pPr>
            <a:r>
              <a:t>Deadline, priority, urgency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73752" y="2542032"/>
            <a:ext cx="292608" cy="0"/>
          </a:xfrm>
          <a:prstGeom prst="line">
            <a:avLst/>
          </a:prstGeom>
          <a:ln w="21590">
            <a:solidFill>
              <a:srgbClr val="697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221224" y="1828800"/>
            <a:ext cx="1993392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376672" y="1993392"/>
            <a:ext cx="502920" cy="310896"/>
          </a:xfrm>
          <a:prstGeom prst="round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13248" y="2007108"/>
            <a:ext cx="429768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6672" y="2423160"/>
            <a:ext cx="1691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5304C"/>
                </a:solidFill>
                <a:latin typeface="Aptos"/>
              </a:defRPr>
            </a:pPr>
            <a:r>
              <a:t>Schedule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6672" y="2816352"/>
            <a:ext cx="16916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2C3B4B"/>
                </a:solidFill>
                <a:latin typeface="Aptos"/>
              </a:defRPr>
            </a:pPr>
            <a:r>
              <a:t>Sequence feasible jobs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32904" y="2542032"/>
            <a:ext cx="292608" cy="0"/>
          </a:xfrm>
          <a:prstGeom prst="line">
            <a:avLst/>
          </a:prstGeom>
          <a:ln w="21590">
            <a:solidFill>
              <a:srgbClr val="697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580376" y="1828800"/>
            <a:ext cx="1993392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735824" y="1993392"/>
            <a:ext cx="502920" cy="310896"/>
          </a:xfrm>
          <a:prstGeom prst="roundRect">
            <a:avLst/>
          </a:prstGeom>
          <a:solidFill>
            <a:srgbClr val="E16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0" y="2007108"/>
            <a:ext cx="429768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35824" y="2423160"/>
            <a:ext cx="1691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5304C"/>
                </a:solidFill>
                <a:latin typeface="Aptos"/>
              </a:defRPr>
            </a:pPr>
            <a:r>
              <a:t>Monitor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35824" y="2816352"/>
            <a:ext cx="16916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2C3B4B"/>
                </a:solidFill>
                <a:latin typeface="Aptos"/>
              </a:defRPr>
            </a:pPr>
            <a:r>
              <a:t>Delay &amp; status updates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92056" y="2542032"/>
            <a:ext cx="292608" cy="0"/>
          </a:xfrm>
          <a:prstGeom prst="line">
            <a:avLst/>
          </a:prstGeom>
          <a:ln w="21590">
            <a:solidFill>
              <a:srgbClr val="697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939528" y="1828800"/>
            <a:ext cx="1993392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094976" y="1993392"/>
            <a:ext cx="502920" cy="310896"/>
          </a:xfrm>
          <a:prstGeom prst="roundRect">
            <a:avLst/>
          </a:prstGeom>
          <a:solidFill>
            <a:srgbClr val="32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131552" y="2007108"/>
            <a:ext cx="429768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94976" y="2423160"/>
            <a:ext cx="1691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5304C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4976" y="2816352"/>
            <a:ext cx="16916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2C3B4B"/>
                </a:solidFill>
                <a:latin typeface="Aptos"/>
              </a:defRPr>
            </a:pPr>
            <a:r>
              <a:t>KPIs &amp; reports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4069080"/>
            <a:ext cx="5074920" cy="132588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77240" y="4069080"/>
            <a:ext cx="68580" cy="1325880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78408" y="4215384"/>
            <a:ext cx="469087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Scheduling rules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" y="4581144"/>
            <a:ext cx="4690872" cy="7223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Respect vehicle capacity and driver availability; prioritize urgent and near-deadline orders when feasible.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4069080"/>
            <a:ext cx="5074920" cy="132588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172200" y="4069080"/>
            <a:ext cx="68580" cy="1325880"/>
          </a:xfrm>
          <a:prstGeom prst="rect">
            <a:avLst/>
          </a:prstGeom>
          <a:solidFill>
            <a:srgbClr val="2A6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73368" y="4215384"/>
            <a:ext cx="469087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Rescheduling rules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3368" y="4581144"/>
            <a:ext cx="4690872" cy="7223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Keep completed deliveries fixed, update estimated arrival times, and rebuild the pending schedule after disruptions.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304C"/>
                </a:solidFill>
                <a:latin typeface="Aptos"/>
              </a:defRPr>
            </a:pPr>
            <a:r>
              <a:t>System Architecture Diagram</a:t>
            </a:r>
          </a:p>
        </p:txBody>
      </p:sp>
      <p:pic>
        <p:nvPicPr>
          <p:cNvPr id="4" name="Picture 3" descr="a_clean_infographic_system_architecture_diagram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337" y="914400"/>
            <a:ext cx="81610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97989"/>
                </a:solidFill>
                <a:latin typeface="Aptos"/>
              </a:defRPr>
            </a:pPr>
            <a:r>
              <a:t>DEADLINE-AWARE LOGISTICS SCHEDULING  •  C++ / STL / 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A699F"/>
                </a:solidFill>
                <a:latin typeface="Aptos"/>
              </a:defRPr>
            </a:pPr>
            <a: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8B7BE"/>
                </a:solidFill>
                <a:latin typeface="Aptos"/>
              </a:defRPr>
            </a:pPr>
            <a: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5304C"/>
                </a:solidFill>
                <a:latin typeface="Aptos"/>
              </a:defRPr>
            </a:pPr>
            <a:r>
              <a:t>Module 1 — Shipment Order &amp; Deadline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11018520" cy="13716"/>
          </a:xfrm>
          <a:prstGeom prst="rect">
            <a:avLst/>
          </a:prstGeom>
          <a:solidFill>
            <a:srgbClr val="DA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97989"/>
                </a:solidFill>
                <a:latin typeface="Aptos"/>
              </a:defRPr>
            </a:pPr>
            <a:r>
              <a:t>DEADLINE-AWARE LOGISTICS SCHEDULING  •  C++ / STL / 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2A699F"/>
                </a:solidFill>
                <a:latin typeface="Aptos"/>
              </a:defRPr>
            </a:pPr>
            <a:r>
              <a:t>07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53312"/>
            <a:ext cx="106070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5304C"/>
                </a:solidFill>
                <a:latin typeface="Aptos"/>
              </a:defRPr>
            </a:pPr>
            <a:r>
              <a:t>Purpose: maintain clean shipment records and validate every order before scheduling.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74519"/>
            <a:ext cx="3383280" cy="196596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1874519"/>
            <a:ext cx="68580" cy="1965960"/>
          </a:xfrm>
          <a:prstGeom prst="rect">
            <a:avLst/>
          </a:prstGeom>
          <a:solidFill>
            <a:srgbClr val="2A6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020824"/>
            <a:ext cx="299923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Captured parameters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86584"/>
            <a:ext cx="2999232" cy="13624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Order ID • delivery location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Package weight • priority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Deadline • distance • travel time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Delivery status • delay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874519"/>
            <a:ext cx="3383280" cy="196596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07408" y="1874519"/>
            <a:ext cx="68580" cy="1965960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08576" y="2020824"/>
            <a:ext cx="299923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Object-oriented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386584"/>
            <a:ext cx="2999232" cy="13624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Shipment class stores order data.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Methods: validate(), updateStatus(),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estimateArrival().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vector&lt;Shipment&gt; stores orders.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874519"/>
            <a:ext cx="3383280" cy="196596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01583" y="1874519"/>
            <a:ext cx="68580" cy="1965960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2752" y="2020824"/>
            <a:ext cx="299923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Order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386584"/>
            <a:ext cx="2999232" cy="13624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Create and edit orders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Check unique IDs and valid values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Assign deadlines and priority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Save/load through CSV or SQLite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343400"/>
            <a:ext cx="10561320" cy="777240"/>
          </a:xfrm>
          <a:prstGeom prst="roundRect">
            <a:avLst/>
          </a:prstGeom>
          <a:solidFill>
            <a:srgbClr val="15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4507992"/>
            <a:ext cx="1371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8B7BE"/>
                </a:solidFill>
                <a:latin typeface="Aptos"/>
              </a:defRPr>
            </a:pPr>
            <a:r>
              <a:t>SAMPLE ORDER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489704"/>
            <a:ext cx="8458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ORD-104  |  Chennai  |  8 kg  |  High  |  17:00 deadline  |  24 km  |  Pending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532120"/>
            <a:ext cx="1828800" cy="310896"/>
          </a:xfrm>
          <a:prstGeom prst="roundRect">
            <a:avLst/>
          </a:prstGeom>
          <a:solidFill>
            <a:srgbClr val="2A6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5256" y="5545836"/>
            <a:ext cx="1755648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Create / Update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80360" y="5532120"/>
            <a:ext cx="1828800" cy="310896"/>
          </a:xfrm>
          <a:prstGeom prst="round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16936" y="5545836"/>
            <a:ext cx="1755648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92040" y="5532120"/>
            <a:ext cx="1828800" cy="310896"/>
          </a:xfrm>
          <a:prstGeom prst="roundRect">
            <a:avLst/>
          </a:prstGeom>
          <a:solidFill>
            <a:srgbClr val="15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28616" y="5545836"/>
            <a:ext cx="1755648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Persist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8B7BE"/>
                </a:solidFill>
                <a:latin typeface="Aptos"/>
              </a:defRPr>
            </a:pPr>
            <a: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5304C"/>
                </a:solidFill>
                <a:latin typeface="Aptos"/>
              </a:defRPr>
            </a:pPr>
            <a:r>
              <a:t>Module 2 — Job Sequencing-Based Scheduling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11018520" cy="13716"/>
          </a:xfrm>
          <a:prstGeom prst="rect">
            <a:avLst/>
          </a:prstGeom>
          <a:solidFill>
            <a:srgbClr val="DA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97989"/>
                </a:solidFill>
                <a:latin typeface="Aptos"/>
              </a:defRPr>
            </a:pPr>
            <a:r>
              <a:t>DEADLINE-AWARE LOGISTICS SCHEDULING  •  C++ / STL / 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2A699F"/>
                </a:solidFill>
                <a:latin typeface="Aptos"/>
              </a:defRPr>
            </a:pPr>
            <a:r>
              <a:t>08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53312"/>
            <a:ext cx="106984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5304C"/>
                </a:solidFill>
                <a:latin typeface="Aptos"/>
              </a:defRPr>
            </a:pPr>
            <a:r>
              <a:t>Purpose: produce a feasible sequence that balances deadlines, urgency, and resource constraints.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74519"/>
            <a:ext cx="3383280" cy="1874519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1874519"/>
            <a:ext cx="68580" cy="1874519"/>
          </a:xfrm>
          <a:prstGeom prst="rect">
            <a:avLst/>
          </a:prstGeom>
          <a:solidFill>
            <a:srgbClr val="2A6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020824"/>
            <a:ext cx="299923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Scheduling strategies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86584"/>
            <a:ext cx="2999232" cy="127101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• First-Come, First-Served (FCFS)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• Earliest Deadline First (EDF)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• Priority-based sorting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• Greedy feasible selection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874519"/>
            <a:ext cx="3383280" cy="1874519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07408" y="1874519"/>
            <a:ext cx="68580" cy="1874519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08576" y="2020824"/>
            <a:ext cx="299923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C++ implementation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386584"/>
            <a:ext cx="2999232" cy="127101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• std::vector for shipment lists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• std::sort with custom comparator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• std::priority_queue for urgent jobs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• Classes for Vehicle and Driver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874519"/>
            <a:ext cx="3383280" cy="1874519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01583" y="1874519"/>
            <a:ext cx="68580" cy="1874519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2752" y="2020824"/>
            <a:ext cx="299923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Feasibility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386584"/>
            <a:ext cx="2999232" cy="127101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• Weight must fit vehicle capacity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• Driver must be available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• Travel time must fit schedule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• Deadline feasibility is evaluated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160520"/>
            <a:ext cx="10515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Illustrative sequence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572000"/>
            <a:ext cx="2395728" cy="96012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9808" y="4572000"/>
            <a:ext cx="68580" cy="960120"/>
          </a:xfrm>
          <a:prstGeom prst="rect">
            <a:avLst/>
          </a:prstGeom>
          <a:solidFill>
            <a:srgbClr val="2A6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0976" y="4718304"/>
            <a:ext cx="2011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Pending orders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" y="5084064"/>
            <a:ext cx="2011680" cy="3566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C3B4B"/>
                </a:solidFill>
                <a:latin typeface="Aptos"/>
              </a:defRPr>
            </a:pPr>
            <a:r>
              <a:t>A • B • C • 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60" y="4572000"/>
            <a:ext cx="2395728" cy="96012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566160" y="4572000"/>
            <a:ext cx="68580" cy="960120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67328" y="4718304"/>
            <a:ext cx="2011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Rank candidates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67328" y="5084064"/>
            <a:ext cx="2011680" cy="3566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C3B4B"/>
                </a:solidFill>
                <a:latin typeface="Aptos"/>
              </a:defRPr>
            </a:pPr>
            <a:r>
              <a:t>Deadline + priority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82512" y="4572000"/>
            <a:ext cx="2395728" cy="96012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82512" y="4572000"/>
            <a:ext cx="68580" cy="960120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0" y="4718304"/>
            <a:ext cx="2011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Check resources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084064"/>
            <a:ext cx="2011680" cy="3566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C3B4B"/>
                </a:solidFill>
                <a:latin typeface="Aptos"/>
              </a:defRPr>
            </a:pPr>
            <a:r>
              <a:t>Capacity + driver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98864" y="4572000"/>
            <a:ext cx="2395728" cy="96012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198864" y="4572000"/>
            <a:ext cx="68580" cy="960120"/>
          </a:xfrm>
          <a:prstGeom prst="rect">
            <a:avLst/>
          </a:prstGeom>
          <a:solidFill>
            <a:srgbClr val="32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400032" y="4718304"/>
            <a:ext cx="2011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Schedule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00032" y="5084064"/>
            <a:ext cx="2011680" cy="3566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C3B4B"/>
                </a:solidFill>
                <a:latin typeface="Aptos"/>
              </a:defRPr>
            </a:pPr>
            <a:r>
              <a:t>B → A → D → 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8B7BE"/>
                </a:solidFill>
                <a:latin typeface="Aptos"/>
              </a:defRPr>
            </a:pPr>
            <a: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5304C"/>
                </a:solidFill>
                <a:latin typeface="Aptos"/>
              </a:defRPr>
            </a:pPr>
            <a:r>
              <a:t>Module 3 — Dynamic Rescheduling &amp; Delay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11018520" cy="13716"/>
          </a:xfrm>
          <a:prstGeom prst="rect">
            <a:avLst/>
          </a:prstGeom>
          <a:solidFill>
            <a:srgbClr val="DA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97989"/>
                </a:solidFill>
                <a:latin typeface="Aptos"/>
              </a:defRPr>
            </a:pPr>
            <a:r>
              <a:t>DEADLINE-AWARE LOGISTICS SCHEDULING  •  C++ / STL / 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2A699F"/>
                </a:solidFill>
                <a:latin typeface="Aptos"/>
              </a:defRPr>
            </a:pPr>
            <a:r>
              <a:t>09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53312"/>
            <a:ext cx="106070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5304C"/>
                </a:solidFill>
                <a:latin typeface="Aptos"/>
              </a:defRPr>
            </a:pPr>
            <a:r>
              <a:t>Purpose: adapt the pending schedule when real-world conditions change.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74519"/>
            <a:ext cx="3383280" cy="1874519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1874519"/>
            <a:ext cx="68580" cy="1874519"/>
          </a:xfrm>
          <a:prstGeom prst="rect">
            <a:avLst/>
          </a:prstGeom>
          <a:solidFill>
            <a:srgbClr val="E16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020824"/>
            <a:ext cx="299923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Rescheduling triggers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86584"/>
            <a:ext cx="2999232" cy="127101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Traffic-related delay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Vehicle issue or capacity change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Driver becomes unavailable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New urgent shipment arrives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874519"/>
            <a:ext cx="3383280" cy="1874519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07408" y="1874519"/>
            <a:ext cx="68580" cy="1874519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08576" y="2020824"/>
            <a:ext cx="299923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Rescheduling 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386584"/>
            <a:ext cx="2999232" cy="127101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Update travel/arrival estimates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Identify orders at risk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Re-rank pending shipments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Assign available resources again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874519"/>
            <a:ext cx="3383280" cy="1874519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01583" y="1874519"/>
            <a:ext cx="68580" cy="1874519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2752" y="2020824"/>
            <a:ext cx="299923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Operational safeguards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386584"/>
            <a:ext cx="2999232" cy="127101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Do not alter completed deliveries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Preserve shipment history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Record delay reason and duration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Recompute affected KPIs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251960"/>
            <a:ext cx="10469880" cy="914400"/>
          </a:xfrm>
          <a:prstGeom prst="roundRect">
            <a:avLst/>
          </a:prstGeom>
          <a:solidFill>
            <a:srgbClr val="E0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4416552"/>
            <a:ext cx="1417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329669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4370832"/>
            <a:ext cx="84124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If Order B is delayed by 30 minutes, recalculate its ETA, flag deadlines at risk, and rebuild the pending sequence.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486400"/>
            <a:ext cx="1737360" cy="310896"/>
          </a:xfrm>
          <a:prstGeom prst="roundRect">
            <a:avLst/>
          </a:prstGeom>
          <a:solidFill>
            <a:srgbClr val="E16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5256" y="5500116"/>
            <a:ext cx="1664207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Detect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88920" y="5486400"/>
            <a:ext cx="1737360" cy="310896"/>
          </a:xfrm>
          <a:prstGeom prst="roundRect">
            <a:avLst/>
          </a:prstGeom>
          <a:solidFill>
            <a:srgbClr val="2A6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825496" y="5500116"/>
            <a:ext cx="1664207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Recalculate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5486400"/>
            <a:ext cx="1737360" cy="310896"/>
          </a:xfrm>
          <a:prstGeom prst="round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45736" y="5500116"/>
            <a:ext cx="1664207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Reassign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29400" y="5486400"/>
            <a:ext cx="1737360" cy="310896"/>
          </a:xfrm>
          <a:prstGeom prst="roundRect">
            <a:avLst/>
          </a:prstGeom>
          <a:solidFill>
            <a:srgbClr val="15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65976" y="5500116"/>
            <a:ext cx="1664207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Log outcome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8B7BE"/>
                </a:solidFill>
                <a:latin typeface="Aptos"/>
              </a:defRPr>
            </a:pPr>
            <a: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5304C"/>
                </a:solidFill>
                <a:latin typeface="Aptos"/>
              </a:defRPr>
            </a:pPr>
            <a:r>
              <a:t>Module 4 — Performance Evaluation &amp; Reports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11018520" cy="13716"/>
          </a:xfrm>
          <a:prstGeom prst="rect">
            <a:avLst/>
          </a:prstGeom>
          <a:solidFill>
            <a:srgbClr val="DA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97989"/>
                </a:solidFill>
                <a:latin typeface="Aptos"/>
              </a:defRPr>
            </a:pPr>
            <a:r>
              <a:t>DEADLINE-AWARE LOGISTICS SCHEDULING  •  C++ / STL / 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2A699F"/>
                </a:solidFill>
                <a:latin typeface="Aptos"/>
              </a:defRPr>
            </a:pPr>
            <a:r>
              <a:t>10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53312"/>
            <a:ext cx="106070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5304C"/>
                </a:solidFill>
                <a:latin typeface="Aptos"/>
              </a:defRPr>
            </a:pPr>
            <a:r>
              <a:t>Purpose: turn delivery outcomes into comparable performance measures.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28800"/>
            <a:ext cx="5166360" cy="91440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" y="1828800"/>
            <a:ext cx="68580" cy="914400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1975104"/>
            <a:ext cx="47823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On-time delivery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40864"/>
            <a:ext cx="478231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C3B4B"/>
                </a:solidFill>
                <a:latin typeface="Aptos"/>
              </a:defRPr>
            </a:pPr>
            <a:r>
              <a:t>On-time completed orders ÷ completed orders × 100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8" y="1828800"/>
            <a:ext cx="5166360" cy="91440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81928" y="1828800"/>
            <a:ext cx="68580" cy="914400"/>
          </a:xfrm>
          <a:prstGeom prst="rect">
            <a:avLst/>
          </a:prstGeom>
          <a:solidFill>
            <a:srgbClr val="2A6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3096" y="1975104"/>
            <a:ext cx="47823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Late shipment 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340864"/>
            <a:ext cx="478231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C3B4B"/>
                </a:solidFill>
                <a:latin typeface="Aptos"/>
              </a:defRPr>
            </a:pPr>
            <a:r>
              <a:t>Number of orders delivered after their deadlines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971800"/>
            <a:ext cx="5166360" cy="91440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9808" y="2971800"/>
            <a:ext cx="68580" cy="914400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0976" y="3118104"/>
            <a:ext cx="47823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Average delivery lateness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3483864"/>
            <a:ext cx="478231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C3B4B"/>
                </a:solidFill>
                <a:latin typeface="Aptos"/>
              </a:defRPr>
            </a:pPr>
            <a:r>
              <a:t>Total late minutes ÷ number of late orders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1928" y="2971800"/>
            <a:ext cx="5166360" cy="91440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81928" y="2971800"/>
            <a:ext cx="68580" cy="914400"/>
          </a:xfrm>
          <a:prstGeom prst="rect">
            <a:avLst/>
          </a:prstGeom>
          <a:solidFill>
            <a:srgbClr val="15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83096" y="3118104"/>
            <a:ext cx="47823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Total delivery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3096" y="3483864"/>
            <a:ext cx="478231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C3B4B"/>
                </a:solidFill>
                <a:latin typeface="Aptos"/>
              </a:defRPr>
            </a:pPr>
            <a:r>
              <a:t>Sum of delivery durations for completed shipments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4114800"/>
            <a:ext cx="5166360" cy="91440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9808" y="4114800"/>
            <a:ext cx="68580" cy="914400"/>
          </a:xfrm>
          <a:prstGeom prst="rect">
            <a:avLst/>
          </a:prstGeom>
          <a:solidFill>
            <a:srgbClr val="32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0976" y="4261104"/>
            <a:ext cx="47823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Completed shipments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" y="4626864"/>
            <a:ext cx="478231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C3B4B"/>
                </a:solidFill>
                <a:latin typeface="Aptos"/>
              </a:defRPr>
            </a:pPr>
            <a:r>
              <a:t>Count of orders with Delivered status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81928" y="4114800"/>
            <a:ext cx="5166360" cy="91440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81928" y="4114800"/>
            <a:ext cx="68580" cy="914400"/>
          </a:xfrm>
          <a:prstGeom prst="rect">
            <a:avLst/>
          </a:prstGeom>
          <a:solidFill>
            <a:srgbClr val="E16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83096" y="4261104"/>
            <a:ext cx="47823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Scheduling efficiency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3096" y="4626864"/>
            <a:ext cx="478231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C3B4B"/>
                </a:solidFill>
                <a:latin typeface="Aptos"/>
              </a:defRPr>
            </a:pPr>
            <a:r>
              <a:t>Feasible completed jobs ÷ eligible jobs × 100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" y="5440680"/>
            <a:ext cx="10561320" cy="475488"/>
          </a:xfrm>
          <a:prstGeom prst="roundRect">
            <a:avLst/>
          </a:prstGeom>
          <a:solidFill>
            <a:srgbClr val="15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87552" y="5532120"/>
            <a:ext cx="101498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Report fields: algorithm • on-time rate • late orders • average lateness • total time • runtime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8B7BE"/>
                </a:solidFill>
                <a:latin typeface="Aptos"/>
              </a:defRPr>
            </a:pPr>
            <a: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5304C"/>
                </a:solidFill>
                <a:latin typeface="Aptos"/>
              </a:defRPr>
            </a:pPr>
            <a:r>
              <a:t>Sample Output &amp; Algorithm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11018520" cy="13716"/>
          </a:xfrm>
          <a:prstGeom prst="rect">
            <a:avLst/>
          </a:prstGeom>
          <a:solidFill>
            <a:srgbClr val="DA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97989"/>
                </a:solidFill>
                <a:latin typeface="Aptos"/>
              </a:defRPr>
            </a:pPr>
            <a:r>
              <a:t>DEADLINE-AWARE LOGISTICS SCHEDULING  •  C++ / STL / 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2A699F"/>
                </a:solidFill>
                <a:latin typeface="Aptos"/>
              </a:defRPr>
            </a:pPr>
            <a:r>
              <a:t>11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325880"/>
            <a:ext cx="1828800" cy="310896"/>
          </a:xfrm>
          <a:prstGeom prst="roundRect">
            <a:avLst/>
          </a:prstGeom>
          <a:solidFill>
            <a:srgbClr val="E16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339595"/>
            <a:ext cx="1755648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ILLUSTRATIVE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44168"/>
            <a:ext cx="84124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97989"/>
                </a:solidFill>
                <a:latin typeface="Aptos"/>
              </a:defRPr>
            </a:pPr>
            <a:r>
              <a:t>Replace these example figures with measured program results.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13232" y="1828800"/>
          <a:ext cx="10789919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Algorithm</a:t>
                      </a:r>
                    </a:p>
                  </a:txBody>
                  <a:tcPr marL="64008" marR="64008">
                    <a:solidFill>
                      <a:srgbClr val="1530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On-time rate</a:t>
                      </a:r>
                    </a:p>
                  </a:txBody>
                  <a:tcPr marL="64008" marR="64008">
                    <a:solidFill>
                      <a:srgbClr val="1530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Late orders</a:t>
                      </a:r>
                    </a:p>
                  </a:txBody>
                  <a:tcPr marL="64008" marR="64008">
                    <a:solidFill>
                      <a:srgbClr val="1530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Avg. lateness</a:t>
                      </a:r>
                    </a:p>
                  </a:txBody>
                  <a:tcPr marL="64008" marR="64008">
                    <a:solidFill>
                      <a:srgbClr val="1530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Total delivery time</a:t>
                      </a:r>
                    </a:p>
                  </a:txBody>
                  <a:tcPr marL="64008" marR="64008">
                    <a:solidFill>
                      <a:srgbClr val="153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C3B4B"/>
                          </a:solidFill>
                          <a:latin typeface="Aptos"/>
                        </a:defRPr>
                      </a:pPr>
                      <a:r>
                        <a:t>FCFS</a:t>
                      </a:r>
                    </a:p>
                  </a:txBody>
                  <a:tcPr marL="64008" marR="64008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B4B"/>
                          </a:solidFill>
                          <a:latin typeface="Aptos"/>
                        </a:defRPr>
                      </a:pPr>
                      <a:r>
                        <a:t>72%</a:t>
                      </a:r>
                    </a:p>
                  </a:txBody>
                  <a:tcPr marL="64008" marR="64008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B4B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 marL="64008" marR="64008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B4B"/>
                          </a:solidFill>
                          <a:latin typeface="Aptos"/>
                        </a:defRPr>
                      </a:pPr>
                      <a:r>
                        <a:t>24 min</a:t>
                      </a:r>
                    </a:p>
                  </a:txBody>
                  <a:tcPr marL="64008" marR="64008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B4B"/>
                          </a:solidFill>
                          <a:latin typeface="Aptos"/>
                        </a:defRPr>
                      </a:pPr>
                      <a:r>
                        <a:t>610 min</a:t>
                      </a:r>
                    </a:p>
                  </a:txBody>
                  <a:tcPr marL="64008" marR="64008"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C3B4B"/>
                          </a:solidFill>
                          <a:latin typeface="Aptos"/>
                        </a:defRPr>
                      </a:pPr>
                      <a:r>
                        <a:t>Earliest Deadline First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B4B"/>
                          </a:solidFill>
                          <a:latin typeface="Aptos"/>
                        </a:defRPr>
                      </a:pPr>
                      <a:r>
                        <a:t>84%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B4B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B4B"/>
                          </a:solidFill>
                          <a:latin typeface="Aptos"/>
                        </a:defRPr>
                      </a:pPr>
                      <a:r>
                        <a:t>16 min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B4B"/>
                          </a:solidFill>
                          <a:latin typeface="Aptos"/>
                        </a:defRPr>
                      </a:pPr>
                      <a:r>
                        <a:t>585 min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C3B4B"/>
                          </a:solidFill>
                          <a:latin typeface="Aptos"/>
                        </a:defRPr>
                      </a:pPr>
                      <a:r>
                        <a:t>Priority + Greedy</a:t>
                      </a:r>
                    </a:p>
                  </a:txBody>
                  <a:tcPr marL="64008" marR="64008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B4B"/>
                          </a:solidFill>
                          <a:latin typeface="Aptos"/>
                        </a:defRPr>
                      </a:pPr>
                      <a:r>
                        <a:t>88%</a:t>
                      </a:r>
                    </a:p>
                  </a:txBody>
                  <a:tcPr marL="64008" marR="64008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B4B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64008" marR="64008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B4B"/>
                          </a:solidFill>
                          <a:latin typeface="Aptos"/>
                        </a:defRPr>
                      </a:pPr>
                      <a:r>
                        <a:t>12 min</a:t>
                      </a:r>
                    </a:p>
                  </a:txBody>
                  <a:tcPr marL="64008" marR="64008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B4B"/>
                          </a:solidFill>
                          <a:latin typeface="Aptos"/>
                        </a:defRPr>
                      </a:pPr>
                      <a:r>
                        <a:t>572 min</a:t>
                      </a:r>
                    </a:p>
                  </a:txBody>
                  <a:tcPr marL="64008" marR="64008"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22960" y="4434840"/>
            <a:ext cx="4983480" cy="114300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" y="4434840"/>
            <a:ext cx="68580" cy="1143000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4581144"/>
            <a:ext cx="459943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4946904"/>
            <a:ext cx="4599432" cy="5394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Higher on-time delivery and lower lateness indicate better deadline performance.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434840"/>
            <a:ext cx="4983480" cy="114300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4434840"/>
            <a:ext cx="68580" cy="1143000"/>
          </a:xfrm>
          <a:prstGeom prst="rect">
            <a:avLst/>
          </a:prstGeom>
          <a:solidFill>
            <a:srgbClr val="2A6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4807" y="4581144"/>
            <a:ext cx="459943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Fair test conditions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4946904"/>
            <a:ext cx="4599432" cy="5394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Use the same shipment set, capacity rules, travel-time inputs, and driver availability.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8B7BE"/>
                </a:solidFill>
                <a:latin typeface="Aptos"/>
              </a:defRPr>
            </a:pPr>
            <a: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5304C"/>
                </a:solidFill>
                <a:latin typeface="Aptos"/>
              </a:defRPr>
            </a:pPr>
            <a:r>
              <a:t>Advantages &amp; Expected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11018520" cy="13716"/>
          </a:xfrm>
          <a:prstGeom prst="rect">
            <a:avLst/>
          </a:prstGeom>
          <a:solidFill>
            <a:srgbClr val="DA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97989"/>
                </a:solidFill>
                <a:latin typeface="Aptos"/>
              </a:defRPr>
            </a:pPr>
            <a:r>
              <a:t>DEADLINE-AWARE LOGISTICS SCHEDULING  •  C++ / STL / 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2A699F"/>
                </a:solidFill>
                <a:latin typeface="Aptos"/>
              </a:defRPr>
            </a:pPr>
            <a:r>
              <a:t>12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463040"/>
            <a:ext cx="5166360" cy="1078992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9808" y="1463040"/>
            <a:ext cx="68580" cy="1078992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609344"/>
            <a:ext cx="47823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Deadline-aware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1975104"/>
            <a:ext cx="4782312" cy="4754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Makes delivery deadlines a first-class scheduling constraint.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1463040"/>
            <a:ext cx="5166360" cy="1078992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81928" y="1463040"/>
            <a:ext cx="68580" cy="1078992"/>
          </a:xfrm>
          <a:prstGeom prst="rect">
            <a:avLst/>
          </a:prstGeom>
          <a:solidFill>
            <a:srgbClr val="2A6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83096" y="1609344"/>
            <a:ext cx="47823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Adaptive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1975104"/>
            <a:ext cx="4782312" cy="4754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Replans pending shipments after delays or urgent orders.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2816352"/>
            <a:ext cx="5166360" cy="1078992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9808" y="2816352"/>
            <a:ext cx="68580" cy="1078992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976" y="2962656"/>
            <a:ext cx="47823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Resource-conscious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3328416"/>
            <a:ext cx="4782312" cy="4754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Checks vehicle capacity, distance, travel time, and driver availability.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1928" y="2816352"/>
            <a:ext cx="5166360" cy="1078992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81928" y="2816352"/>
            <a:ext cx="68580" cy="1078992"/>
          </a:xfrm>
          <a:prstGeom prst="rect">
            <a:avLst/>
          </a:prstGeom>
          <a:solidFill>
            <a:srgbClr val="32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83096" y="2962656"/>
            <a:ext cx="47823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Measurable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3328416"/>
            <a:ext cx="4782312" cy="4754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Tracks delivery performance through defined KPIs.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169664"/>
            <a:ext cx="5166360" cy="1078992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49808" y="4169664"/>
            <a:ext cx="68580" cy="1078992"/>
          </a:xfrm>
          <a:prstGeom prst="rect">
            <a:avLst/>
          </a:prstGeom>
          <a:solidFill>
            <a:srgbClr val="15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0976" y="4315968"/>
            <a:ext cx="47823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Modular C++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" y="4681728"/>
            <a:ext cx="4782312" cy="4754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Separates shipment data, scheduling logic, persistence, and reporting.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81928" y="4169664"/>
            <a:ext cx="5166360" cy="1078992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81928" y="4169664"/>
            <a:ext cx="68580" cy="1078992"/>
          </a:xfrm>
          <a:prstGeom prst="rect">
            <a:avLst/>
          </a:prstGeom>
          <a:solidFill>
            <a:srgbClr val="E16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83096" y="4315968"/>
            <a:ext cx="47823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Comparable algorithms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4681728"/>
            <a:ext cx="4782312" cy="4754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Supports evidence-based comparison of FCFS, EDF, and greedy strategies.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0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0120" y="5769864"/>
            <a:ext cx="10241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329669"/>
                </a:solidFill>
                <a:latin typeface="Aptos"/>
              </a:defRPr>
            </a:pPr>
            <a:r>
              <a:t>Target outcome: more reliable scheduling decisions and clear, reproducible delivery-performance reports.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515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8B7BE"/>
                </a:solidFill>
                <a:latin typeface="Aptos"/>
              </a:defRPr>
            </a:pPr>
            <a:r>
              <a:t>CAPSTONE PROJECT  | 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05840"/>
            <a:ext cx="1060704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One workflow. Four modules. Measurable delivery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9875520" cy="1920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Shipment management provides validated, structured order data.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Scheduling algorithms build deadline-aware sequences within operational constraints.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Dynamic rescheduling responds to delays and urgent orders.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Performance reports reveal where delivery reliability can improve.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572000"/>
            <a:ext cx="10515600" cy="18288"/>
          </a:xfrm>
          <a:prstGeom prst="rect">
            <a:avLst/>
          </a:prstGeom>
          <a:solidFill>
            <a:srgbClr val="3D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4983480"/>
            <a:ext cx="105156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  <a:defRPr sz="3200" b="1">
                <a:solidFill>
                  <a:srgbClr val="28B7BE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10515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CDDCE8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09360"/>
            <a:ext cx="10515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  <a:defRPr sz="800" b="0">
                <a:solidFill>
                  <a:srgbClr val="91A6B9"/>
                </a:solidFill>
                <a:latin typeface="Aptos"/>
              </a:defRPr>
            </a:pPr>
            <a:r>
              <a:t>[College name]  •  [Team names]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1254</Words>
  <Application>Microsoft Office PowerPoint</Application>
  <PresentationFormat>Widescreen</PresentationFormat>
  <Paragraphs>249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Nithiya sanju</cp:lastModifiedBy>
  <cp:revision>2</cp:revision>
  <dcterms:created xsi:type="dcterms:W3CDTF">2013-01-27T09:14:16Z</dcterms:created>
  <dcterms:modified xsi:type="dcterms:W3CDTF">2026-10-21T16:53:35Z</dcterms:modified>
  <cp:category/>
</cp:coreProperties>
</file>